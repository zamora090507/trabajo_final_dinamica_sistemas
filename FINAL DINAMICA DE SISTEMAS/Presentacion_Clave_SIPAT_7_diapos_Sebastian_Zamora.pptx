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13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Guion sugerido:
Inicio aclarando que es un modelo académico. El mensaje clave: la deserción aparece cuando el riesgo se acumula y la capacidad de apoyo llega tarde.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Guion sugerido:
Esta diapositiva explica el problema. Puedo decir: el retiro es el evento visible, pero el verdadero problema es el stock de estudiantes en riesgo que crece antes del abandono.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Guion sugerido:
Esta es la diapositiva que responde la duda principal. Recuperación no es “sanarse”; significa volver del estado de riesgo al estado comprometido. Capacidad de apoyo es cuántos estudiantes puede atender la universidad en un 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Guion sugerido:
Aquí explico SIPAT con palabras simples. No es solo una aplicación: es un sistema de alerta, tutoría, apoyo integral y mejora de capacidad. En el modelo esto se traduce en más recuperación y menos deserción.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Guion sugerido:
Esta es la diapositiva de resultados. Debo señalar la línea vertical del mes 12, que indica el inicio de la política. Lo importante: menor deserción y menor riesgo acumulado con SIPAT.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Guion sugerido:
Cierre: repito que el valor está en el análisis de estructura y en la política de intervención. Reconozco la limitación de los datos sintéticos y propongo calibrar con datos reales.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extracted_docx_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502920"/>
            <a:ext cx="2331720" cy="7132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9808" y="187452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BED5E6"/>
                </a:solidFill>
              </a:rPr>
              <a:t>Trabajo Final · Dinámica de Sistemas</a:t>
            </a:r>
            <a:endParaRPr lang="en-US" sz="1650" dirty="0"/>
          </a:p>
        </p:txBody>
      </p:sp>
      <p:sp>
        <p:nvSpPr>
          <p:cNvPr id="4" name="Text 1"/>
          <p:cNvSpPr/>
          <p:nvPr/>
        </p:nvSpPr>
        <p:spPr>
          <a:xfrm>
            <a:off x="749808" y="2267712"/>
            <a:ext cx="7269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Modelo sistémico para reducir la</a:t>
            </a:r>
            <a:endParaRPr lang="en-US" sz="3300" dirty="0"/>
          </a:p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interrupción de estudios universitarios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777240" y="3593592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4E4EF"/>
                </a:solidFill>
              </a:rPr>
              <a:t>Presentación individual · Caso referencial con política SIPAT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777240" y="4983480"/>
            <a:ext cx="6492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10" dirty="0">
                <a:solidFill>
                  <a:srgbClr val="D4E4EF"/>
                </a:solidFill>
              </a:rPr>
              <a:t>Alumno: Sebastian Aldair Zamora Montalvo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D4E4EF"/>
                </a:solidFill>
              </a:rPr>
              <a:t>Docente: Mg. Maurice Frayssinet Delgado · Ciclo: 5to</a:t>
            </a:r>
            <a:endParaRPr lang="en-US" sz="1210" dirty="0"/>
          </a:p>
        </p:txBody>
      </p:sp>
      <p:sp>
        <p:nvSpPr>
          <p:cNvPr id="7" name="Text 4"/>
          <p:cNvSpPr/>
          <p:nvPr/>
        </p:nvSpPr>
        <p:spPr>
          <a:xfrm>
            <a:off x="8275320" y="1901952"/>
            <a:ext cx="2852928" cy="384048"/>
          </a:xfrm>
          <a:prstGeom prst="rect">
            <a:avLst/>
          </a:prstGeom>
          <a:solidFill>
            <a:srgbClr val="15344F"/>
          </a:solidFill>
          <a:ln w="10160">
            <a:solidFill>
              <a:srgbClr val="15344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D7B0"/>
                </a:solidFill>
              </a:rPr>
              <a:t>Idea central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75320" y="2514600"/>
            <a:ext cx="3063240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360" dirty="0">
                <a:solidFill>
                  <a:srgbClr val="FFFFFF"/>
                </a:solidFill>
              </a:rPr>
              <a:t>La deserción no se analiza como un evento aislado, sino como el resultado de estudiantes que se acumulan en riesgo cuando la institución no logra detectarlos y recuperarlos a tiempo.</a:t>
            </a:r>
            <a:endParaRPr lang="en-US" sz="1360" dirty="0"/>
          </a:p>
        </p:txBody>
      </p:sp>
      <p:sp>
        <p:nvSpPr>
          <p:cNvPr id="9" name="Text 6"/>
          <p:cNvSpPr/>
          <p:nvPr/>
        </p:nvSpPr>
        <p:spPr>
          <a:xfrm>
            <a:off x="8275320" y="4160520"/>
            <a:ext cx="2852928" cy="384048"/>
          </a:xfrm>
          <a:prstGeom prst="rect">
            <a:avLst/>
          </a:prstGeom>
          <a:solidFill>
            <a:srgbClr val="15344F"/>
          </a:solidFill>
          <a:ln w="10160">
            <a:solidFill>
              <a:srgbClr val="15344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D7B0"/>
                </a:solidFill>
              </a:rPr>
              <a:t>Dato importante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275320" y="4754880"/>
            <a:ext cx="3127248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D4E4EF"/>
                </a:solidFill>
              </a:rPr>
              <a:t>Los datos son sintéticos y referenciales. El objetivo es comparar comportamientos y políticas, no afirmar cifras oficiales de una universidad específica.</a:t>
            </a:r>
            <a:endParaRPr lang="en-US" sz="1220" dirty="0"/>
          </a:p>
        </p:txBody>
      </p:sp>
      <p:sp>
        <p:nvSpPr>
          <p:cNvPr id="11" name="Shape 8"/>
          <p:cNvSpPr/>
          <p:nvPr/>
        </p:nvSpPr>
        <p:spPr>
          <a:xfrm>
            <a:off x="0" y="6236208"/>
            <a:ext cx="12188952" cy="0"/>
          </a:xfrm>
          <a:prstGeom prst="line">
            <a:avLst/>
          </a:prstGeom>
          <a:noFill/>
          <a:ln w="63500">
            <a:solidFill>
              <a:srgbClr val="F28C28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extracted_docx_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201168"/>
            <a:ext cx="1417320" cy="42062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975104" y="292608"/>
            <a:ext cx="6766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6B7280"/>
                </a:solidFill>
              </a:rPr>
              <a:t>Problemática</a:t>
            </a:r>
            <a:endParaRPr lang="en-US" sz="880" dirty="0"/>
          </a:p>
        </p:txBody>
      </p:sp>
      <p:sp>
        <p:nvSpPr>
          <p:cNvPr id="4" name="Text 1"/>
          <p:cNvSpPr/>
          <p:nvPr/>
        </p:nvSpPr>
        <p:spPr>
          <a:xfrm>
            <a:off x="11292840" y="26517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6B7280"/>
                </a:solidFill>
              </a:rPr>
              <a:t>02</a:t>
            </a:r>
            <a:endParaRPr lang="en-US" sz="880" dirty="0"/>
          </a:p>
        </p:txBody>
      </p:sp>
      <p:sp>
        <p:nvSpPr>
          <p:cNvPr id="5" name="Shape 2"/>
          <p:cNvSpPr/>
          <p:nvPr/>
        </p:nvSpPr>
        <p:spPr>
          <a:xfrm>
            <a:off x="438912" y="749808"/>
            <a:ext cx="11292840" cy="0"/>
          </a:xfrm>
          <a:prstGeom prst="line">
            <a:avLst/>
          </a:prstGeom>
          <a:noFill/>
          <a:ln w="8255">
            <a:solidFill>
              <a:srgbClr val="D7E1E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21792" y="960120"/>
            <a:ext cx="10881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Problemática: acumulación de riesgo estudiantil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640080" y="1444752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4B5563"/>
                </a:solidFill>
              </a:rPr>
              <a:t>El problema no es solo “un estudiante se retira”; es un proceso que crece con el tiempo.</a:t>
            </a:r>
            <a:endParaRPr lang="en-US" sz="1230" dirty="0"/>
          </a:p>
        </p:txBody>
      </p:sp>
      <p:sp>
        <p:nvSpPr>
          <p:cNvPr id="8" name="Text 5"/>
          <p:cNvSpPr/>
          <p:nvPr/>
        </p:nvSpPr>
        <p:spPr>
          <a:xfrm>
            <a:off x="713232" y="1874520"/>
            <a:ext cx="5532120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440" dirty="0">
                <a:solidFill>
                  <a:srgbClr val="0B1F33"/>
                </a:solidFill>
              </a:rPr>
              <a:t>En una universidad pública referencial, algunos estudiantes empiezan comprometidos, pero pueden pasar al estado “en riesgo” por presión académica, problemas económicos, baja motivación, falta de orientación o demoras administrativas. Si ese riesgo no se atiende a tiempo, se acumula y termina elevando la deserción.</a:t>
            </a:r>
            <a:endParaRPr lang="en-US" sz="1440" dirty="0"/>
          </a:p>
        </p:txBody>
      </p:sp>
      <p:sp>
        <p:nvSpPr>
          <p:cNvPr id="9" name="Text 6"/>
          <p:cNvSpPr/>
          <p:nvPr/>
        </p:nvSpPr>
        <p:spPr>
          <a:xfrm>
            <a:off x="749808" y="3337560"/>
            <a:ext cx="5440680" cy="17556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310" dirty="0">
                <a:solidFill>
                  <a:srgbClr val="4B5563"/>
                </a:solidFill>
              </a:rPr>
              <a:t>• No hay una sola causa: intervienen factores académicos, económicos, emocionales e institucionales.
</a:t>
            </a:r>
            <a:pPr indent="0" marL="0">
              <a:buNone/>
            </a:pPr>
            <a:r>
              <a:rPr lang="en-US" sz="1310" dirty="0">
                <a:solidFill>
                  <a:srgbClr val="4B5563"/>
                </a:solidFill>
              </a:rPr>
              <a:t>• La deserción aparece después de varias demoras: bajo rendimiento, inasistencias, poca tutoría y baja satisfacción.
</a:t>
            </a:r>
            <a:pPr indent="0" marL="0">
              <a:buNone/>
            </a:pPr>
            <a:r>
              <a:rPr lang="en-US" sz="1310" dirty="0">
                <a:solidFill>
                  <a:srgbClr val="4B5563"/>
                </a:solidFill>
              </a:rPr>
              <a:t>• La institución puede seguir atendiendo casos, pero si la demanda supera su capacidad, la recuperación disminuye.</a:t>
            </a:r>
            <a:endParaRPr lang="en-US" sz="1310" dirty="0"/>
          </a:p>
        </p:txBody>
      </p:sp>
      <p:sp>
        <p:nvSpPr>
          <p:cNvPr id="10" name="Text 7"/>
          <p:cNvSpPr/>
          <p:nvPr/>
        </p:nvSpPr>
        <p:spPr>
          <a:xfrm>
            <a:off x="6720840" y="1938528"/>
            <a:ext cx="1143000" cy="274320"/>
          </a:xfrm>
          <a:prstGeom prst="rect">
            <a:avLst/>
          </a:prstGeom>
          <a:solidFill>
            <a:srgbClr val="B5494A"/>
          </a:solidFill>
          <a:ln>
            <a:solidFill>
              <a:srgbClr val="B5494A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EVENTO</a:t>
            </a:r>
            <a:endParaRPr lang="en-US" sz="880" dirty="0"/>
          </a:p>
        </p:txBody>
      </p:sp>
      <p:sp>
        <p:nvSpPr>
          <p:cNvPr id="11" name="Text 8"/>
          <p:cNvSpPr/>
          <p:nvPr/>
        </p:nvSpPr>
        <p:spPr>
          <a:xfrm>
            <a:off x="8092440" y="1901952"/>
            <a:ext cx="297180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</a:rPr>
              <a:t>Retiro, abandono de matrícula o desaprobación recurrente.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720840" y="2944368"/>
            <a:ext cx="1143000" cy="274320"/>
          </a:xfrm>
          <a:prstGeom prst="rect">
            <a:avLst/>
          </a:prstGeom>
          <a:solidFill>
            <a:srgbClr val="F28C28"/>
          </a:solidFill>
          <a:ln>
            <a:solidFill>
              <a:srgbClr val="F28C28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PATRÓN</a:t>
            </a:r>
            <a:endParaRPr lang="en-US" sz="880" dirty="0"/>
          </a:p>
        </p:txBody>
      </p:sp>
      <p:sp>
        <p:nvSpPr>
          <p:cNvPr id="13" name="Text 10"/>
          <p:cNvSpPr/>
          <p:nvPr/>
        </p:nvSpPr>
        <p:spPr>
          <a:xfrm>
            <a:off x="8092440" y="2907792"/>
            <a:ext cx="306324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</a:rPr>
              <a:t>Aumento sostenido de estudiantes en riesgo y desertores acumulados.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720840" y="3950208"/>
            <a:ext cx="1143000" cy="274320"/>
          </a:xfrm>
          <a:prstGeom prst="rect">
            <a:avLst/>
          </a:prstGeom>
          <a:solidFill>
            <a:srgbClr val="1F4E79"/>
          </a:solidFill>
          <a:ln>
            <a:solidFill>
              <a:srgbClr val="1F4E79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ESTRUCTURA</a:t>
            </a:r>
            <a:endParaRPr lang="en-US" sz="880" dirty="0"/>
          </a:p>
        </p:txBody>
      </p:sp>
      <p:sp>
        <p:nvSpPr>
          <p:cNvPr id="15" name="Text 12"/>
          <p:cNvSpPr/>
          <p:nvPr/>
        </p:nvSpPr>
        <p:spPr>
          <a:xfrm>
            <a:off x="8092440" y="3913632"/>
            <a:ext cx="31089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</a:rPr>
              <a:t>Bucles de saturación: más riesgo reduce cobertura; menor cobertura reduce recuperación.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6720840" y="4956048"/>
            <a:ext cx="1143000" cy="274320"/>
          </a:xfrm>
          <a:prstGeom prst="rect">
            <a:avLst/>
          </a:prstGeom>
          <a:solidFill>
            <a:srgbClr val="2A9D8F"/>
          </a:solidFill>
          <a:ln>
            <a:solidFill>
              <a:srgbClr val="2A9D8F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OBJETIVO</a:t>
            </a:r>
            <a:endParaRPr lang="en-US" sz="880" dirty="0"/>
          </a:p>
        </p:txBody>
      </p:sp>
      <p:sp>
        <p:nvSpPr>
          <p:cNvPr id="17" name="Text 14"/>
          <p:cNvSpPr/>
          <p:nvPr/>
        </p:nvSpPr>
        <p:spPr>
          <a:xfrm>
            <a:off x="8092440" y="4919472"/>
            <a:ext cx="31546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</a:rPr>
              <a:t>Intervenir antes de que el riesgo se convierta en deserción definitiva.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21792" y="6528816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6B7280"/>
                </a:solidFill>
              </a:rPr>
              <a:t>Modelo referencial con datos sintéticos y supuestos plausibles para fines académicos</a:t>
            </a:r>
            <a:endParaRPr lang="en-US" sz="77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extracted_docx_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201168"/>
            <a:ext cx="1417320" cy="42062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975104" y="292608"/>
            <a:ext cx="6766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6B7280"/>
                </a:solidFill>
              </a:rPr>
              <a:t>Variables clave</a:t>
            </a:r>
            <a:endParaRPr lang="en-US" sz="880" dirty="0"/>
          </a:p>
        </p:txBody>
      </p:sp>
      <p:sp>
        <p:nvSpPr>
          <p:cNvPr id="4" name="Text 1"/>
          <p:cNvSpPr/>
          <p:nvPr/>
        </p:nvSpPr>
        <p:spPr>
          <a:xfrm>
            <a:off x="11292840" y="26517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6B7280"/>
                </a:solidFill>
              </a:rPr>
              <a:t>03</a:t>
            </a:r>
            <a:endParaRPr lang="en-US" sz="880" dirty="0"/>
          </a:p>
        </p:txBody>
      </p:sp>
      <p:sp>
        <p:nvSpPr>
          <p:cNvPr id="5" name="Shape 2"/>
          <p:cNvSpPr/>
          <p:nvPr/>
        </p:nvSpPr>
        <p:spPr>
          <a:xfrm>
            <a:off x="438912" y="749808"/>
            <a:ext cx="11292840" cy="0"/>
          </a:xfrm>
          <a:prstGeom prst="line">
            <a:avLst/>
          </a:prstGeom>
          <a:noFill/>
          <a:ln w="8255">
            <a:solidFill>
              <a:srgbClr val="D7E1E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21792" y="960120"/>
            <a:ext cx="10881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significa “recuperación” y “capacidad de apoyo”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640080" y="1444752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4B5563"/>
                </a:solidFill>
              </a:rPr>
              <a:t>Estas dos variables explican cómo una política puede reducir la deserción.</a:t>
            </a:r>
            <a:endParaRPr lang="en-US" sz="1230" dirty="0"/>
          </a:p>
        </p:txBody>
      </p:sp>
      <p:sp>
        <p:nvSpPr>
          <p:cNvPr id="8" name="Text 5"/>
          <p:cNvSpPr/>
          <p:nvPr/>
        </p:nvSpPr>
        <p:spPr>
          <a:xfrm>
            <a:off x="731520" y="2121408"/>
            <a:ext cx="1874520" cy="621792"/>
          </a:xfrm>
          <a:prstGeom prst="rect">
            <a:avLst/>
          </a:prstGeom>
          <a:solidFill>
            <a:srgbClr val="EAF2F8"/>
          </a:solidFill>
          <a:ln w="10160">
            <a:solidFill>
              <a:srgbClr val="B9CAD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Comprometidos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3337560" y="2121408"/>
            <a:ext cx="1874520" cy="621792"/>
          </a:xfrm>
          <a:prstGeom prst="rect">
            <a:avLst/>
          </a:prstGeom>
          <a:solidFill>
            <a:srgbClr val="FFF4E6"/>
          </a:solidFill>
          <a:ln w="10160">
            <a:solidFill>
              <a:srgbClr val="E5C07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En riesgo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5943600" y="2121408"/>
            <a:ext cx="1874520" cy="621792"/>
          </a:xfrm>
          <a:prstGeom prst="rect">
            <a:avLst/>
          </a:prstGeom>
          <a:solidFill>
            <a:srgbClr val="FCEDEC"/>
          </a:solidFill>
          <a:ln w="10160">
            <a:solidFill>
              <a:srgbClr val="E2A5A4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Deserción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2670048" y="2432304"/>
            <a:ext cx="576072" cy="0"/>
          </a:xfrm>
          <a:prstGeom prst="line">
            <a:avLst/>
          </a:prstGeom>
          <a:noFill/>
          <a:ln w="17780">
            <a:solidFill>
              <a:srgbClr val="F28C28"/>
            </a:solidFill>
            <a:prstDash val="solid"/>
            <a:headEnd type="none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5285232" y="2432304"/>
            <a:ext cx="585216" cy="0"/>
          </a:xfrm>
          <a:prstGeom prst="line">
            <a:avLst/>
          </a:prstGeom>
          <a:noFill/>
          <a:ln w="17780">
            <a:solidFill>
              <a:srgbClr val="B5494A"/>
            </a:solidFill>
            <a:prstDash val="solid"/>
            <a:headEnd type="none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4160520" y="2834640"/>
            <a:ext cx="-2286000" cy="1024128"/>
          </a:xfrm>
          <a:prstGeom prst="line">
            <a:avLst/>
          </a:prstGeom>
          <a:noFill/>
          <a:ln w="17780">
            <a:solidFill>
              <a:srgbClr val="2A9D8F"/>
            </a:solidFill>
            <a:prstDash val="solid"/>
            <a:headEnd type="none"/>
            <a:tailEnd type="triangle"/>
          </a:ln>
        </p:spPr>
      </p:sp>
      <p:sp>
        <p:nvSpPr>
          <p:cNvPr id="14" name="Text 11"/>
          <p:cNvSpPr/>
          <p:nvPr/>
        </p:nvSpPr>
        <p:spPr>
          <a:xfrm>
            <a:off x="2560320" y="181051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F28C28"/>
                </a:solidFill>
              </a:rPr>
              <a:t>Entrada a riesgo</a:t>
            </a:r>
            <a:endParaRPr lang="en-US" sz="820" dirty="0"/>
          </a:p>
        </p:txBody>
      </p:sp>
      <p:sp>
        <p:nvSpPr>
          <p:cNvPr id="15" name="Text 12"/>
          <p:cNvSpPr/>
          <p:nvPr/>
        </p:nvSpPr>
        <p:spPr>
          <a:xfrm>
            <a:off x="5358384" y="181051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B5494A"/>
                </a:solidFill>
              </a:rPr>
              <a:t>Deserción</a:t>
            </a:r>
            <a:endParaRPr lang="en-US" sz="820" dirty="0"/>
          </a:p>
        </p:txBody>
      </p:sp>
      <p:sp>
        <p:nvSpPr>
          <p:cNvPr id="16" name="Text 13"/>
          <p:cNvSpPr/>
          <p:nvPr/>
        </p:nvSpPr>
        <p:spPr>
          <a:xfrm>
            <a:off x="2633472" y="3346704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2A9D8F"/>
                </a:solidFill>
              </a:rPr>
              <a:t>Recuperación</a:t>
            </a:r>
            <a:endParaRPr lang="en-US" sz="880" dirty="0"/>
          </a:p>
        </p:txBody>
      </p:sp>
      <p:sp>
        <p:nvSpPr>
          <p:cNvPr id="17" name="Text 14"/>
          <p:cNvSpPr/>
          <p:nvPr/>
        </p:nvSpPr>
        <p:spPr>
          <a:xfrm>
            <a:off x="749808" y="4224528"/>
            <a:ext cx="1920240" cy="402336"/>
          </a:xfrm>
          <a:prstGeom prst="rect">
            <a:avLst/>
          </a:prstGeom>
          <a:solidFill>
            <a:srgbClr val="E8F6F3"/>
          </a:solidFill>
          <a:ln w="10160">
            <a:solidFill>
              <a:srgbClr val="B7DED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3"/>
                </a:solidFill>
              </a:rPr>
              <a:t>Recuperación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777240" y="4773168"/>
            <a:ext cx="3383280" cy="10241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4B5563"/>
                </a:solidFill>
              </a:rPr>
              <a:t>Es el flujo de estudiantes en riesgo que vuelven a estar comprometidos gracias a tutoría, orientación psicológica, seguimiento académico o apoyo económico.</a:t>
            </a:r>
            <a:endParaRPr lang="en-US" sz="1240" dirty="0"/>
          </a:p>
        </p:txBody>
      </p:sp>
      <p:sp>
        <p:nvSpPr>
          <p:cNvPr id="19" name="Text 16"/>
          <p:cNvSpPr/>
          <p:nvPr/>
        </p:nvSpPr>
        <p:spPr>
          <a:xfrm>
            <a:off x="4572000" y="4224528"/>
            <a:ext cx="2286000" cy="402336"/>
          </a:xfrm>
          <a:prstGeom prst="rect">
            <a:avLst/>
          </a:prstGeom>
          <a:solidFill>
            <a:srgbClr val="EAF2F8"/>
          </a:solidFill>
          <a:ln w="10160">
            <a:solidFill>
              <a:srgbClr val="B9CAD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3"/>
                </a:solidFill>
              </a:rPr>
              <a:t>Capacidad de apoyo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4599432" y="4773168"/>
            <a:ext cx="3273552" cy="10241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4B5563"/>
                </a:solidFill>
              </a:rPr>
              <a:t>Es la cantidad de estudiantes que la institución puede atender por mes con tutores, personal de bienestar, horarios, presupuesto y herramientas de seguimiento.</a:t>
            </a:r>
            <a:endParaRPr lang="en-US" sz="1240" dirty="0"/>
          </a:p>
        </p:txBody>
      </p:sp>
      <p:sp>
        <p:nvSpPr>
          <p:cNvPr id="21" name="Text 18"/>
          <p:cNvSpPr/>
          <p:nvPr/>
        </p:nvSpPr>
        <p:spPr>
          <a:xfrm>
            <a:off x="8275320" y="4224528"/>
            <a:ext cx="1828800" cy="402336"/>
          </a:xfrm>
          <a:prstGeom prst="rect">
            <a:avLst/>
          </a:prstGeom>
          <a:solidFill>
            <a:srgbClr val="FFF4E6"/>
          </a:solidFill>
          <a:ln w="10160">
            <a:solidFill>
              <a:srgbClr val="E5C07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3"/>
                </a:solidFill>
              </a:rPr>
              <a:t>Cobertura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8302752" y="4773168"/>
            <a:ext cx="2953512" cy="10241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4B5563"/>
                </a:solidFill>
              </a:rPr>
              <a:t>Cobertura = Capacidad de apoyo / Estudiantes en riesgo. Si hay muchos estudiantes en riesgo y poca capacidad, la recuperación baja.</a:t>
            </a:r>
            <a:endParaRPr lang="en-US" sz="1240" dirty="0"/>
          </a:p>
        </p:txBody>
      </p:sp>
      <p:sp>
        <p:nvSpPr>
          <p:cNvPr id="23" name="Text 20"/>
          <p:cNvSpPr/>
          <p:nvPr/>
        </p:nvSpPr>
        <p:spPr>
          <a:xfrm>
            <a:off x="777240" y="5961888"/>
            <a:ext cx="108813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10" b="1" dirty="0">
                <a:solidFill>
                  <a:srgbClr val="0B1F33"/>
                </a:solidFill>
              </a:rPr>
              <a:t>Lectura del modelo: si sube la capacidad de apoyo, sube la cobertura; si sube la cobertura, aumenta la recuperación; si aumenta la recuperación, bajan los estudiantes en riesgo y la deserción acumulada.</a:t>
            </a:r>
            <a:endParaRPr lang="en-US" sz="1210" dirty="0"/>
          </a:p>
        </p:txBody>
      </p:sp>
      <p:sp>
        <p:nvSpPr>
          <p:cNvPr id="24" name="Text 21"/>
          <p:cNvSpPr/>
          <p:nvPr/>
        </p:nvSpPr>
        <p:spPr>
          <a:xfrm>
            <a:off x="621792" y="6528816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6B7280"/>
                </a:solidFill>
              </a:rPr>
              <a:t>Modelo referencial con datos sintéticos y supuestos plausibles para fines académicos</a:t>
            </a:r>
            <a:endParaRPr lang="en-US" sz="77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extracted_docx_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201168"/>
            <a:ext cx="1417320" cy="42062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975104" y="292608"/>
            <a:ext cx="6766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6B7280"/>
                </a:solidFill>
              </a:rPr>
              <a:t>Política propuesta</a:t>
            </a:r>
            <a:endParaRPr lang="en-US" sz="880" dirty="0"/>
          </a:p>
        </p:txBody>
      </p:sp>
      <p:sp>
        <p:nvSpPr>
          <p:cNvPr id="4" name="Text 1"/>
          <p:cNvSpPr/>
          <p:nvPr/>
        </p:nvSpPr>
        <p:spPr>
          <a:xfrm>
            <a:off x="11292840" y="26517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6B7280"/>
                </a:solidFill>
              </a:rPr>
              <a:t>04</a:t>
            </a:r>
            <a:endParaRPr lang="en-US" sz="880" dirty="0"/>
          </a:p>
        </p:txBody>
      </p:sp>
      <p:sp>
        <p:nvSpPr>
          <p:cNvPr id="5" name="Shape 2"/>
          <p:cNvSpPr/>
          <p:nvPr/>
        </p:nvSpPr>
        <p:spPr>
          <a:xfrm>
            <a:off x="438912" y="749808"/>
            <a:ext cx="11292840" cy="0"/>
          </a:xfrm>
          <a:prstGeom prst="line">
            <a:avLst/>
          </a:prstGeom>
          <a:noFill/>
          <a:ln w="8255">
            <a:solidFill>
              <a:srgbClr val="D7E1E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21792" y="960120"/>
            <a:ext cx="10881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hace SIPAT dentro del modelo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640080" y="1444752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4B5563"/>
                </a:solidFill>
              </a:rPr>
              <a:t>SIPAT = Sistema Integrado de Permanencia y Alerta Temprana.</a:t>
            </a:r>
            <a:endParaRPr lang="en-US" sz="1230" dirty="0"/>
          </a:p>
        </p:txBody>
      </p:sp>
      <p:sp>
        <p:nvSpPr>
          <p:cNvPr id="8" name="Text 5"/>
          <p:cNvSpPr/>
          <p:nvPr/>
        </p:nvSpPr>
        <p:spPr>
          <a:xfrm>
            <a:off x="713232" y="1847088"/>
            <a:ext cx="10607040" cy="6126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0B1F33"/>
                </a:solidFill>
              </a:rPr>
              <a:t>La política no elimina el problema de golpe. Modifica variables clave desde el mes 12 para que el sistema detecte antes, atienda mejor y recupere más estudiantes antes de que abandonen.</a:t>
            </a:r>
            <a:endParaRPr lang="en-US" sz="1420" dirty="0"/>
          </a:p>
        </p:txBody>
      </p:sp>
      <p:sp>
        <p:nvSpPr>
          <p:cNvPr id="9" name="Text 6"/>
          <p:cNvSpPr/>
          <p:nvPr/>
        </p:nvSpPr>
        <p:spPr>
          <a:xfrm>
            <a:off x="731520" y="2788920"/>
            <a:ext cx="2423160" cy="530352"/>
          </a:xfrm>
          <a:prstGeom prst="rect">
            <a:avLst/>
          </a:prstGeom>
          <a:solidFill>
            <a:srgbClr val="FCEDEC"/>
          </a:solidFill>
          <a:ln w="10160">
            <a:solidFill>
              <a:srgbClr val="E2A5A4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0B1F33"/>
                </a:solidFill>
              </a:rPr>
              <a:t>1. Alerta temprana</a:t>
            </a:r>
            <a:endParaRPr lang="en-US" sz="1320" dirty="0"/>
          </a:p>
        </p:txBody>
      </p:sp>
      <p:sp>
        <p:nvSpPr>
          <p:cNvPr id="10" name="Text 7"/>
          <p:cNvSpPr/>
          <p:nvPr/>
        </p:nvSpPr>
        <p:spPr>
          <a:xfrm>
            <a:off x="822960" y="3529584"/>
            <a:ext cx="2240280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4B5563"/>
                </a:solidFill>
              </a:rPr>
              <a:t>Detecta señales: inasistencia, bajo rendimiento, retiros y baja participación.</a:t>
            </a:r>
            <a:endParaRPr lang="en-US" sz="1120" dirty="0"/>
          </a:p>
        </p:txBody>
      </p:sp>
      <p:sp>
        <p:nvSpPr>
          <p:cNvPr id="11" name="Text 8"/>
          <p:cNvSpPr/>
          <p:nvPr/>
        </p:nvSpPr>
        <p:spPr>
          <a:xfrm>
            <a:off x="822960" y="4224528"/>
            <a:ext cx="21945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B5494A"/>
                </a:solidFill>
              </a:rPr>
              <a:t>Efecto: reduce la entrada tardía al riesgo.</a:t>
            </a:r>
            <a:endParaRPr lang="en-US" sz="1060" dirty="0"/>
          </a:p>
        </p:txBody>
      </p:sp>
      <p:sp>
        <p:nvSpPr>
          <p:cNvPr id="12" name="Text 9"/>
          <p:cNvSpPr/>
          <p:nvPr/>
        </p:nvSpPr>
        <p:spPr>
          <a:xfrm>
            <a:off x="3520440" y="2788920"/>
            <a:ext cx="2423160" cy="530352"/>
          </a:xfrm>
          <a:prstGeom prst="rect">
            <a:avLst/>
          </a:prstGeom>
          <a:solidFill>
            <a:srgbClr val="E8F6F3"/>
          </a:solidFill>
          <a:ln w="10160">
            <a:solidFill>
              <a:srgbClr val="B7DED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0B1F33"/>
                </a:solidFill>
              </a:rPr>
              <a:t>2. Tutoría focalizada</a:t>
            </a:r>
            <a:endParaRPr lang="en-US" sz="1320" dirty="0"/>
          </a:p>
        </p:txBody>
      </p:sp>
      <p:sp>
        <p:nvSpPr>
          <p:cNvPr id="13" name="Text 10"/>
          <p:cNvSpPr/>
          <p:nvPr/>
        </p:nvSpPr>
        <p:spPr>
          <a:xfrm>
            <a:off x="3611880" y="3529584"/>
            <a:ext cx="2240280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4B5563"/>
                </a:solidFill>
              </a:rPr>
              <a:t>Prioriza estudiantes en riesgo y los deriva a tutoría, bienestar o asesoría académica.</a:t>
            </a:r>
            <a:endParaRPr lang="en-US" sz="1120" dirty="0"/>
          </a:p>
        </p:txBody>
      </p:sp>
      <p:sp>
        <p:nvSpPr>
          <p:cNvPr id="14" name="Text 11"/>
          <p:cNvSpPr/>
          <p:nvPr/>
        </p:nvSpPr>
        <p:spPr>
          <a:xfrm>
            <a:off x="3611880" y="4224528"/>
            <a:ext cx="21945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2A9D8F"/>
                </a:solidFill>
              </a:rPr>
              <a:t>Efecto: aumenta la recuperación.</a:t>
            </a:r>
            <a:endParaRPr lang="en-US" sz="1060" dirty="0"/>
          </a:p>
        </p:txBody>
      </p:sp>
      <p:sp>
        <p:nvSpPr>
          <p:cNvPr id="15" name="Text 12"/>
          <p:cNvSpPr/>
          <p:nvPr/>
        </p:nvSpPr>
        <p:spPr>
          <a:xfrm>
            <a:off x="6309360" y="2788920"/>
            <a:ext cx="2423160" cy="530352"/>
          </a:xfrm>
          <a:prstGeom prst="rect">
            <a:avLst/>
          </a:prstGeom>
          <a:solidFill>
            <a:srgbClr val="FFF4E6"/>
          </a:solidFill>
          <a:ln w="10160">
            <a:solidFill>
              <a:srgbClr val="E5C07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0B1F33"/>
                </a:solidFill>
              </a:rPr>
              <a:t>3. Apoyo integral</a:t>
            </a:r>
            <a:endParaRPr lang="en-US" sz="1320" dirty="0"/>
          </a:p>
        </p:txBody>
      </p:sp>
      <p:sp>
        <p:nvSpPr>
          <p:cNvPr id="16" name="Text 13"/>
          <p:cNvSpPr/>
          <p:nvPr/>
        </p:nvSpPr>
        <p:spPr>
          <a:xfrm>
            <a:off x="6400800" y="3529584"/>
            <a:ext cx="2240280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4B5563"/>
                </a:solidFill>
              </a:rPr>
              <a:t>Combina apoyo académico, emocional, económico y administrativo según el caso.</a:t>
            </a:r>
            <a:endParaRPr lang="en-US" sz="1120" dirty="0"/>
          </a:p>
        </p:txBody>
      </p:sp>
      <p:sp>
        <p:nvSpPr>
          <p:cNvPr id="17" name="Text 14"/>
          <p:cNvSpPr/>
          <p:nvPr/>
        </p:nvSpPr>
        <p:spPr>
          <a:xfrm>
            <a:off x="6400800" y="4224528"/>
            <a:ext cx="21945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F28C28"/>
                </a:solidFill>
              </a:rPr>
              <a:t>Efecto: mejora motivación y satisfacción.</a:t>
            </a:r>
            <a:endParaRPr lang="en-US" sz="1060" dirty="0"/>
          </a:p>
        </p:txBody>
      </p:sp>
      <p:sp>
        <p:nvSpPr>
          <p:cNvPr id="18" name="Text 15"/>
          <p:cNvSpPr/>
          <p:nvPr/>
        </p:nvSpPr>
        <p:spPr>
          <a:xfrm>
            <a:off x="9098280" y="2788920"/>
            <a:ext cx="2423160" cy="530352"/>
          </a:xfrm>
          <a:prstGeom prst="rect">
            <a:avLst/>
          </a:prstGeom>
          <a:solidFill>
            <a:srgbClr val="EAF2F8"/>
          </a:solidFill>
          <a:ln w="10160">
            <a:solidFill>
              <a:srgbClr val="B9CAD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0B1F33"/>
                </a:solidFill>
              </a:rPr>
              <a:t>4. Más capacidad</a:t>
            </a:r>
            <a:endParaRPr lang="en-US" sz="1320" dirty="0"/>
          </a:p>
        </p:txBody>
      </p:sp>
      <p:sp>
        <p:nvSpPr>
          <p:cNvPr id="19" name="Text 16"/>
          <p:cNvSpPr/>
          <p:nvPr/>
        </p:nvSpPr>
        <p:spPr>
          <a:xfrm>
            <a:off x="9189720" y="3529584"/>
            <a:ext cx="2240280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4B5563"/>
                </a:solidFill>
              </a:rPr>
              <a:t>Aumenta tutores, horas de atención y seguimiento mediante tablero mensual.</a:t>
            </a:r>
            <a:endParaRPr lang="en-US" sz="1120" dirty="0"/>
          </a:p>
        </p:txBody>
      </p:sp>
      <p:sp>
        <p:nvSpPr>
          <p:cNvPr id="20" name="Text 17"/>
          <p:cNvSpPr/>
          <p:nvPr/>
        </p:nvSpPr>
        <p:spPr>
          <a:xfrm>
            <a:off x="9189720" y="4224528"/>
            <a:ext cx="21945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1F4E79"/>
                </a:solidFill>
              </a:rPr>
              <a:t>Efecto: sube la cobertura de apoyo.</a:t>
            </a:r>
            <a:endParaRPr lang="en-US" sz="1060" dirty="0"/>
          </a:p>
        </p:txBody>
      </p:sp>
      <p:sp>
        <p:nvSpPr>
          <p:cNvPr id="21" name="Shape 18"/>
          <p:cNvSpPr/>
          <p:nvPr/>
        </p:nvSpPr>
        <p:spPr>
          <a:xfrm>
            <a:off x="2011680" y="4937760"/>
            <a:ext cx="2240280" cy="0"/>
          </a:xfrm>
          <a:prstGeom prst="line">
            <a:avLst/>
          </a:prstGeom>
          <a:noFill/>
          <a:ln w="17780">
            <a:solidFill>
              <a:srgbClr val="4B5563"/>
            </a:solidFill>
            <a:prstDash val="solid"/>
            <a:headEnd type="none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4800600" y="4937760"/>
            <a:ext cx="2240280" cy="0"/>
          </a:xfrm>
          <a:prstGeom prst="line">
            <a:avLst/>
          </a:prstGeom>
          <a:noFill/>
          <a:ln w="17780">
            <a:solidFill>
              <a:srgbClr val="4B5563"/>
            </a:solidFill>
            <a:prstDash val="solid"/>
            <a:headEnd type="none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7589520" y="4937760"/>
            <a:ext cx="2240280" cy="0"/>
          </a:xfrm>
          <a:prstGeom prst="line">
            <a:avLst/>
          </a:prstGeom>
          <a:noFill/>
          <a:ln w="17780">
            <a:solidFill>
              <a:srgbClr val="4B5563"/>
            </a:solidFill>
            <a:prstDash val="solid"/>
            <a:headEnd type="none"/>
            <a:tailEnd type="triangle"/>
          </a:ln>
        </p:spPr>
      </p:sp>
      <p:sp>
        <p:nvSpPr>
          <p:cNvPr id="24" name="Text 21"/>
          <p:cNvSpPr/>
          <p:nvPr/>
        </p:nvSpPr>
        <p:spPr>
          <a:xfrm>
            <a:off x="1170432" y="5394960"/>
            <a:ext cx="987552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410" b="1" dirty="0">
                <a:solidFill>
                  <a:srgbClr val="0B1F33"/>
                </a:solidFill>
              </a:rPr>
              <a:t>Resultado esperado: menor saturación institucional → mayor recuperación → menos estudiantes en riesgo → menor deserción acumulada.</a:t>
            </a:r>
            <a:endParaRPr lang="en-US" sz="1410" dirty="0"/>
          </a:p>
        </p:txBody>
      </p:sp>
      <p:sp>
        <p:nvSpPr>
          <p:cNvPr id="25" name="Text 22"/>
          <p:cNvSpPr/>
          <p:nvPr/>
        </p:nvSpPr>
        <p:spPr>
          <a:xfrm>
            <a:off x="621792" y="6528816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6B7280"/>
                </a:solidFill>
              </a:rPr>
              <a:t>Modelo referencial con datos sintéticos y supuestos plausibles para fines académicos</a:t>
            </a:r>
            <a:endParaRPr lang="en-US" sz="77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extracted_docx_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201168"/>
            <a:ext cx="1417320" cy="42062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975104" y="292608"/>
            <a:ext cx="6766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6B7280"/>
                </a:solidFill>
              </a:rPr>
              <a:t>Resultados clave</a:t>
            </a:r>
            <a:endParaRPr lang="en-US" sz="880" dirty="0"/>
          </a:p>
        </p:txBody>
      </p:sp>
      <p:sp>
        <p:nvSpPr>
          <p:cNvPr id="4" name="Text 1"/>
          <p:cNvSpPr/>
          <p:nvPr/>
        </p:nvSpPr>
        <p:spPr>
          <a:xfrm>
            <a:off x="11292840" y="26517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06</a:t>
            </a:r>
          </a:p>
        </p:txBody>
      </p:sp>
      <p:sp>
        <p:nvSpPr>
          <p:cNvPr id="5" name="Shape 2"/>
          <p:cNvSpPr/>
          <p:nvPr/>
        </p:nvSpPr>
        <p:spPr>
          <a:xfrm>
            <a:off x="438912" y="749808"/>
            <a:ext cx="11292840" cy="0"/>
          </a:xfrm>
          <a:prstGeom prst="line">
            <a:avLst/>
          </a:prstGeom>
          <a:noFill/>
          <a:ln w="8255">
            <a:solidFill>
              <a:srgbClr val="D7E1EA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621792" y="960120"/>
            <a:ext cx="10881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Resultados de la simulación: base vs SIPAT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640080" y="1444752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4B5563"/>
                </a:solidFill>
              </a:rPr>
              <a:t>Los gráficos importantes son deserción acumulada y estudiantes en riesgo.</a:t>
            </a:r>
            <a:endParaRPr lang="en-US" sz="1230" dirty="0"/>
          </a:p>
        </p:txBody>
      </p:sp>
      <p:pic>
        <p:nvPicPr>
          <p:cNvPr id="8" name="Image 1" descr="/mnt/data/trabajo_final_assets/escenarios_deserc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551" y="1856232"/>
            <a:ext cx="4307435" cy="2377440"/>
          </a:xfrm>
          <a:prstGeom prst="rect">
            <a:avLst/>
          </a:prstGeom>
        </p:spPr>
      </p:pic>
      <p:pic>
        <p:nvPicPr>
          <p:cNvPr id="9" name="Image 2" descr="/mnt/data/trabajo_final_assets/escenarios_ries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4543" y="1856232"/>
            <a:ext cx="4307435" cy="23774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68680" y="4617720"/>
            <a:ext cx="21488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B5494A"/>
                </a:solidFill>
              </a:rPr>
              <a:t>3 180</a:t>
            </a:r>
            <a:endParaRPr lang="en-US" sz="2300" dirty="0"/>
          </a:p>
        </p:txBody>
      </p:sp>
      <p:sp>
        <p:nvSpPr>
          <p:cNvPr id="11" name="Text 6"/>
          <p:cNvSpPr/>
          <p:nvPr/>
        </p:nvSpPr>
        <p:spPr>
          <a:xfrm>
            <a:off x="868680" y="5001768"/>
            <a:ext cx="214884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4B5563"/>
                </a:solidFill>
              </a:rPr>
              <a:t>desertores acumulados en escenario base</a:t>
            </a:r>
            <a:endParaRPr lang="en-US" sz="840" dirty="0"/>
          </a:p>
        </p:txBody>
      </p:sp>
      <p:sp>
        <p:nvSpPr>
          <p:cNvPr id="12" name="Text 7"/>
          <p:cNvSpPr/>
          <p:nvPr/>
        </p:nvSpPr>
        <p:spPr>
          <a:xfrm>
            <a:off x="3337560" y="4617720"/>
            <a:ext cx="21488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A9D8F"/>
                </a:solidFill>
              </a:rPr>
              <a:t>1 483</a:t>
            </a:r>
            <a:endParaRPr lang="en-US" sz="2300" dirty="0"/>
          </a:p>
        </p:txBody>
      </p:sp>
      <p:sp>
        <p:nvSpPr>
          <p:cNvPr id="13" name="Text 8"/>
          <p:cNvSpPr/>
          <p:nvPr/>
        </p:nvSpPr>
        <p:spPr>
          <a:xfrm>
            <a:off x="3337560" y="5001768"/>
            <a:ext cx="214884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4B5563"/>
                </a:solidFill>
              </a:rPr>
              <a:t>desertores acumulados con SIPAT</a:t>
            </a:r>
            <a:endParaRPr lang="en-US" sz="840" dirty="0"/>
          </a:p>
        </p:txBody>
      </p:sp>
      <p:sp>
        <p:nvSpPr>
          <p:cNvPr id="14" name="Text 9"/>
          <p:cNvSpPr/>
          <p:nvPr/>
        </p:nvSpPr>
        <p:spPr>
          <a:xfrm>
            <a:off x="5806440" y="4617720"/>
            <a:ext cx="21488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28C28"/>
                </a:solidFill>
              </a:rPr>
              <a:t>2 278</a:t>
            </a:r>
            <a:endParaRPr lang="en-US" sz="2300" dirty="0"/>
          </a:p>
        </p:txBody>
      </p:sp>
      <p:sp>
        <p:nvSpPr>
          <p:cNvPr id="15" name="Text 10"/>
          <p:cNvSpPr/>
          <p:nvPr/>
        </p:nvSpPr>
        <p:spPr>
          <a:xfrm>
            <a:off x="5806440" y="5001768"/>
            <a:ext cx="214884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4B5563"/>
                </a:solidFill>
              </a:rPr>
              <a:t>estudiantes en riesgo al mes 60: base</a:t>
            </a:r>
            <a:endParaRPr lang="en-US" sz="840" dirty="0"/>
          </a:p>
        </p:txBody>
      </p:sp>
      <p:sp>
        <p:nvSpPr>
          <p:cNvPr id="16" name="Text 11"/>
          <p:cNvSpPr/>
          <p:nvPr/>
        </p:nvSpPr>
        <p:spPr>
          <a:xfrm>
            <a:off x="8275320" y="4617720"/>
            <a:ext cx="21488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A9D8F"/>
                </a:solidFill>
              </a:rPr>
              <a:t>1 147</a:t>
            </a:r>
            <a:endParaRPr lang="en-US" sz="2300" dirty="0"/>
          </a:p>
        </p:txBody>
      </p:sp>
      <p:sp>
        <p:nvSpPr>
          <p:cNvPr id="17" name="Text 12"/>
          <p:cNvSpPr/>
          <p:nvPr/>
        </p:nvSpPr>
        <p:spPr>
          <a:xfrm>
            <a:off x="8275320" y="5001768"/>
            <a:ext cx="214884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4B5563"/>
                </a:solidFill>
              </a:rPr>
              <a:t>estudiantes en riesgo al mes 60: SIPAT</a:t>
            </a:r>
            <a:endParaRPr lang="en-US" sz="840" dirty="0"/>
          </a:p>
        </p:txBody>
      </p:sp>
      <p:sp>
        <p:nvSpPr>
          <p:cNvPr id="18" name="Text 13"/>
          <p:cNvSpPr/>
          <p:nvPr/>
        </p:nvSpPr>
        <p:spPr>
          <a:xfrm>
            <a:off x="804672" y="5742432"/>
            <a:ext cx="1065276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0B1F33"/>
                </a:solidFill>
              </a:rPr>
              <a:t>Interpretación: SIPAT no borra la deserción, pero cambia la trayectoria del sistema. Al mejorar detección, cobertura y recuperación, reduce el stock de riesgo y evita una parte importante de interrupciones.</a:t>
            </a:r>
            <a:endParaRPr lang="en-US" sz="1240" dirty="0"/>
          </a:p>
        </p:txBody>
      </p:sp>
      <p:sp>
        <p:nvSpPr>
          <p:cNvPr id="19" name="Text 14"/>
          <p:cNvSpPr/>
          <p:nvPr/>
        </p:nvSpPr>
        <p:spPr>
          <a:xfrm>
            <a:off x="621792" y="6528816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6B7280"/>
                </a:solidFill>
              </a:rPr>
              <a:t>Modelo referencial con datos sintéticos y supuestos plausibles para fines académicos</a:t>
            </a:r>
            <a:endParaRPr lang="en-US" sz="77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extracted_docx_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201168"/>
            <a:ext cx="1417320" cy="42062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975104" y="292608"/>
            <a:ext cx="6766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6B7280"/>
                </a:solidFill>
              </a:rPr>
              <a:t>Conclusiones</a:t>
            </a:r>
            <a:endParaRPr lang="en-US" sz="880" dirty="0"/>
          </a:p>
        </p:txBody>
      </p:sp>
      <p:sp>
        <p:nvSpPr>
          <p:cNvPr id="4" name="Text 1"/>
          <p:cNvSpPr/>
          <p:nvPr/>
        </p:nvSpPr>
        <p:spPr>
          <a:xfrm>
            <a:off x="11292840" y="26517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07</a:t>
            </a:r>
          </a:p>
        </p:txBody>
      </p:sp>
      <p:sp>
        <p:nvSpPr>
          <p:cNvPr id="5" name="Shape 2"/>
          <p:cNvSpPr/>
          <p:nvPr/>
        </p:nvSpPr>
        <p:spPr>
          <a:xfrm>
            <a:off x="438912" y="749808"/>
            <a:ext cx="11292840" cy="0"/>
          </a:xfrm>
          <a:prstGeom prst="line">
            <a:avLst/>
          </a:prstGeom>
          <a:noFill/>
          <a:ln w="8255">
            <a:solidFill>
              <a:srgbClr val="D7E1EA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621792" y="960120"/>
            <a:ext cx="10881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Conclusiones y recomendación final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640080" y="1444752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4B5563"/>
                </a:solidFill>
              </a:rPr>
              <a:t>El aporte del modelo es mostrar dónde intervenir antes de que el riesgo se convierta en abandono.</a:t>
            </a:r>
            <a:endParaRPr lang="en-US" sz="1230" dirty="0"/>
          </a:p>
        </p:txBody>
      </p:sp>
      <p:sp>
        <p:nvSpPr>
          <p:cNvPr id="8" name="Text 5"/>
          <p:cNvSpPr/>
          <p:nvPr/>
        </p:nvSpPr>
        <p:spPr>
          <a:xfrm>
            <a:off x="749808" y="1874520"/>
            <a:ext cx="1600200" cy="384048"/>
          </a:xfrm>
          <a:prstGeom prst="rect">
            <a:avLst/>
          </a:prstGeom>
          <a:solidFill>
            <a:srgbClr val="EAF2F8"/>
          </a:solidFill>
          <a:ln w="10160">
            <a:solidFill>
              <a:srgbClr val="B9CAD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0B1F33"/>
                </a:solidFill>
              </a:rPr>
              <a:t>Conclusión 1</a:t>
            </a:r>
            <a:endParaRPr lang="en-US" sz="1280" dirty="0"/>
          </a:p>
        </p:txBody>
      </p:sp>
      <p:sp>
        <p:nvSpPr>
          <p:cNvPr id="9" name="Text 6"/>
          <p:cNvSpPr/>
          <p:nvPr/>
        </p:nvSpPr>
        <p:spPr>
          <a:xfrm>
            <a:off x="2606040" y="1856232"/>
            <a:ext cx="882396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310" dirty="0">
                <a:solidFill>
                  <a:srgbClr val="4B5563"/>
                </a:solidFill>
              </a:rPr>
              <a:t>La deserción es el resultado de una acumulación previa de estudiantes en riesgo. Por eso la variable crítica no es solo el abandono final, sino el riesgo que crece antes.</a:t>
            </a:r>
            <a:endParaRPr lang="en-US" sz="1310" dirty="0"/>
          </a:p>
        </p:txBody>
      </p:sp>
      <p:sp>
        <p:nvSpPr>
          <p:cNvPr id="10" name="Text 7"/>
          <p:cNvSpPr/>
          <p:nvPr/>
        </p:nvSpPr>
        <p:spPr>
          <a:xfrm>
            <a:off x="749808" y="2788920"/>
            <a:ext cx="1600200" cy="384048"/>
          </a:xfrm>
          <a:prstGeom prst="rect">
            <a:avLst/>
          </a:prstGeom>
          <a:solidFill>
            <a:srgbClr val="E8F6F3"/>
          </a:solidFill>
          <a:ln w="10160">
            <a:solidFill>
              <a:srgbClr val="B7DED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0B1F33"/>
                </a:solidFill>
              </a:rPr>
              <a:t>Conclusión 2</a:t>
            </a:r>
            <a:endParaRPr lang="en-US" sz="1280" dirty="0"/>
          </a:p>
        </p:txBody>
      </p:sp>
      <p:sp>
        <p:nvSpPr>
          <p:cNvPr id="11" name="Text 8"/>
          <p:cNvSpPr/>
          <p:nvPr/>
        </p:nvSpPr>
        <p:spPr>
          <a:xfrm>
            <a:off x="2606040" y="2770632"/>
            <a:ext cx="882396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310" dirty="0">
                <a:solidFill>
                  <a:srgbClr val="4B5563"/>
                </a:solidFill>
              </a:rPr>
              <a:t>La recuperación depende de la capacidad de apoyo. Si la universidad no amplía tutoría, bienestar y seguimiento, la cobertura cae y el sistema se satura.</a:t>
            </a:r>
            <a:endParaRPr lang="en-US" sz="1310" dirty="0"/>
          </a:p>
        </p:txBody>
      </p:sp>
      <p:sp>
        <p:nvSpPr>
          <p:cNvPr id="12" name="Text 9"/>
          <p:cNvSpPr/>
          <p:nvPr/>
        </p:nvSpPr>
        <p:spPr>
          <a:xfrm>
            <a:off x="749808" y="3703320"/>
            <a:ext cx="1600200" cy="384048"/>
          </a:xfrm>
          <a:prstGeom prst="rect">
            <a:avLst/>
          </a:prstGeom>
          <a:solidFill>
            <a:srgbClr val="FFF4E6"/>
          </a:solidFill>
          <a:ln w="10160">
            <a:solidFill>
              <a:srgbClr val="E5C07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0B1F33"/>
                </a:solidFill>
              </a:rPr>
              <a:t>Conclusión 3</a:t>
            </a:r>
            <a:endParaRPr lang="en-US" sz="1280" dirty="0"/>
          </a:p>
        </p:txBody>
      </p:sp>
      <p:sp>
        <p:nvSpPr>
          <p:cNvPr id="13" name="Text 10"/>
          <p:cNvSpPr/>
          <p:nvPr/>
        </p:nvSpPr>
        <p:spPr>
          <a:xfrm>
            <a:off x="2606040" y="3685032"/>
            <a:ext cx="882396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310" dirty="0">
                <a:solidFill>
                  <a:srgbClr val="4B5563"/>
                </a:solidFill>
              </a:rPr>
              <a:t>La política SIPAT mejora el comportamiento porque actúa temprano: identifica señales, prioriza casos, aumenta recuperación y reduce la deserción acumulada.</a:t>
            </a:r>
            <a:endParaRPr lang="en-US" sz="1310" dirty="0"/>
          </a:p>
        </p:txBody>
      </p:sp>
      <p:sp>
        <p:nvSpPr>
          <p:cNvPr id="14" name="Text 11"/>
          <p:cNvSpPr/>
          <p:nvPr/>
        </p:nvSpPr>
        <p:spPr>
          <a:xfrm>
            <a:off x="749808" y="4800600"/>
            <a:ext cx="1554480" cy="274320"/>
          </a:xfrm>
          <a:prstGeom prst="rect">
            <a:avLst/>
          </a:prstGeom>
          <a:solidFill>
            <a:srgbClr val="2A9D8F"/>
          </a:solidFill>
          <a:ln>
            <a:solidFill>
              <a:srgbClr val="2A9D8F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RECOMENDACIÓN</a:t>
            </a:r>
            <a:endParaRPr lang="en-US" sz="880" dirty="0"/>
          </a:p>
        </p:txBody>
      </p:sp>
      <p:sp>
        <p:nvSpPr>
          <p:cNvPr id="15" name="Text 12"/>
          <p:cNvSpPr/>
          <p:nvPr/>
        </p:nvSpPr>
        <p:spPr>
          <a:xfrm>
            <a:off x="2606040" y="4736592"/>
            <a:ext cx="598932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B1F33"/>
                </a:solidFill>
              </a:rPr>
              <a:t>Implementar SIPAT por etapas: primero pilotos por facultad, luego tablero mensual de seguimiento y finalmente calibración del modelo con datos institucionales reales.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942832" y="4800600"/>
            <a:ext cx="914400" cy="274320"/>
          </a:xfrm>
          <a:prstGeom prst="rect">
            <a:avLst/>
          </a:prstGeom>
          <a:solidFill>
            <a:srgbClr val="B5494A"/>
          </a:solidFill>
          <a:ln>
            <a:solidFill>
              <a:srgbClr val="B5494A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LÍMITE</a:t>
            </a:r>
            <a:endParaRPr lang="en-US" sz="880" dirty="0"/>
          </a:p>
        </p:txBody>
      </p:sp>
      <p:sp>
        <p:nvSpPr>
          <p:cNvPr id="17" name="Text 14"/>
          <p:cNvSpPr/>
          <p:nvPr/>
        </p:nvSpPr>
        <p:spPr>
          <a:xfrm>
            <a:off x="10012680" y="4736592"/>
            <a:ext cx="160020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Los resultados son referenciales; deben validarse con datos reales antes de tomar decisiones oficiales.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731520" y="5806440"/>
            <a:ext cx="10789920" cy="0"/>
          </a:xfrm>
          <a:prstGeom prst="line">
            <a:avLst/>
          </a:prstGeom>
          <a:noFill/>
          <a:ln w="12700">
            <a:solidFill>
              <a:srgbClr val="D7E1EA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868680" y="5971032"/>
            <a:ext cx="104241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6B7280"/>
                </a:solidFill>
              </a:rPr>
              <a:t>Frase de cierre: “El modelo no busca predecir exactamente cuántos estudiantes desertarán, sino demostrar qué estructura genera el problema y qué política puede cambiar su trayectoria”.</a:t>
            </a:r>
            <a:endParaRPr lang="en-US" sz="1140" dirty="0"/>
          </a:p>
        </p:txBody>
      </p:sp>
      <p:sp>
        <p:nvSpPr>
          <p:cNvPr id="20" name="Text 17"/>
          <p:cNvSpPr/>
          <p:nvPr/>
        </p:nvSpPr>
        <p:spPr>
          <a:xfrm>
            <a:off x="621792" y="6528816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6B7280"/>
                </a:solidFill>
              </a:rPr>
              <a:t>Modelo referencial con datos sintéticos y supuestos plausibles para fines académicos</a:t>
            </a:r>
            <a:endParaRPr lang="en-US" sz="77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37160"/>
            <a:ext cx="20116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700" b="1">
                <a:solidFill>
                  <a:srgbClr val="081F32"/>
                </a:solidFill>
                <a:latin typeface="Aptos"/>
              </a:rPr>
              <a:t>Universidad Nacional
Federico Villarreal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164592"/>
            <a:ext cx="18288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700" b="0">
                <a:solidFill>
                  <a:srgbClr val="636E77"/>
                </a:solidFill>
                <a:latin typeface="Aptos"/>
              </a:rPr>
              <a:t>Datos previos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0" y="164592"/>
            <a:ext cx="2286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0">
                <a:solidFill>
                  <a:srgbClr val="636E77"/>
                </a:solidFill>
                <a:latin typeface="Aptos"/>
              </a:rP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502920"/>
            <a:ext cx="11521440" cy="9144"/>
          </a:xfrm>
          <a:prstGeom prst="rect">
            <a:avLst/>
          </a:prstGeom>
          <a:solidFill>
            <a:srgbClr val="DEE5EB"/>
          </a:solidFill>
          <a:ln>
            <a:solidFill>
              <a:srgbClr val="DE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77240"/>
            <a:ext cx="1024128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1">
                <a:solidFill>
                  <a:srgbClr val="081F32"/>
                </a:solidFill>
                <a:latin typeface="Aptos"/>
              </a:rPr>
              <a:t>Datos estadísticos previos de la simulación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70432"/>
            <a:ext cx="106984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>
                <a:solidFill>
                  <a:srgbClr val="636E77"/>
                </a:solidFill>
                <a:latin typeface="Aptos"/>
              </a:rPr>
              <a:t>Antes de interpretar la gráfica, el modelo parte de stocks iniciales y tasas mensuales referenciales. No son cifras oficiales; son datos sintéticos usados para comparar escenarios.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91640"/>
            <a:ext cx="3566160" cy="1554480"/>
          </a:xfrm>
          <a:prstGeom prst="rect">
            <a:avLst/>
          </a:prstGeom>
          <a:solidFill>
            <a:srgbClr val="E5F1FA"/>
          </a:solidFill>
          <a:ln w="12700">
            <a:solidFill>
              <a:srgbClr val="A9C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64792"/>
            <a:ext cx="32918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081F32"/>
                </a:solidFill>
                <a:latin typeface="Aptos"/>
              </a:rPr>
              <a:t>Condición inicial · mes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084831"/>
            <a:ext cx="17373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>
                <a:solidFill>
                  <a:srgbClr val="636E77"/>
                </a:solidFill>
                <a:latin typeface="Aptos"/>
              </a:rPr>
              <a:t>Matrícula total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87168" y="2084831"/>
            <a:ext cx="11430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200" b="1">
                <a:solidFill>
                  <a:srgbClr val="18486C"/>
                </a:solidFill>
                <a:latin typeface="Aptos"/>
              </a:rPr>
              <a:t>9 000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340863"/>
            <a:ext cx="17373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>
                <a:solidFill>
                  <a:srgbClr val="636E77"/>
                </a:solidFill>
                <a:latin typeface="Aptos"/>
              </a:rPr>
              <a:t>Comprometidos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87168" y="2340863"/>
            <a:ext cx="11430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200" b="1">
                <a:solidFill>
                  <a:srgbClr val="18486C"/>
                </a:solidFill>
                <a:latin typeface="Aptos"/>
              </a:rPr>
              <a:t>7 800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2596896"/>
            <a:ext cx="17373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>
                <a:solidFill>
                  <a:srgbClr val="636E77"/>
                </a:solidFill>
                <a:latin typeface="Aptos"/>
              </a:rPr>
              <a:t>En riesgo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87168" y="2596896"/>
            <a:ext cx="11430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200" b="1">
                <a:solidFill>
                  <a:srgbClr val="18486C"/>
                </a:solidFill>
                <a:latin typeface="Aptos"/>
              </a:rPr>
              <a:t>1 200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2852928"/>
            <a:ext cx="17373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>
                <a:solidFill>
                  <a:srgbClr val="636E77"/>
                </a:solidFill>
                <a:latin typeface="Aptos"/>
              </a:rPr>
              <a:t>Capacidad de apoyo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87168" y="2852928"/>
            <a:ext cx="11430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200" b="1">
                <a:solidFill>
                  <a:srgbClr val="18486C"/>
                </a:solidFill>
                <a:latin typeface="Aptos"/>
              </a:rPr>
              <a:t>600 est./mes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43400" y="1691640"/>
            <a:ext cx="3566160" cy="1554480"/>
          </a:xfrm>
          <a:prstGeom prst="rect">
            <a:avLst/>
          </a:prstGeom>
          <a:solidFill>
            <a:srgbClr val="FFF4E3"/>
          </a:solidFill>
          <a:ln w="12700">
            <a:solidFill>
              <a:srgbClr val="E7B2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0" y="1764792"/>
            <a:ext cx="32918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EF852C"/>
                </a:solidFill>
                <a:latin typeface="Aptos"/>
              </a:rPr>
              <a:t>Tasas base mensuales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53712" y="2084831"/>
            <a:ext cx="17373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>
                <a:solidFill>
                  <a:srgbClr val="636E77"/>
                </a:solidFill>
                <a:latin typeface="Aptos"/>
              </a:rPr>
              <a:t>Entrada al riesgo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91072" y="2084831"/>
            <a:ext cx="12344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150" b="1">
                <a:solidFill>
                  <a:srgbClr val="EF852C"/>
                </a:solidFill>
                <a:latin typeface="Aptos"/>
              </a:rPr>
              <a:t>1,2 % base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53712" y="2340863"/>
            <a:ext cx="17373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>
                <a:solidFill>
                  <a:srgbClr val="636E77"/>
                </a:solidFill>
                <a:latin typeface="Aptos"/>
              </a:rPr>
              <a:t>Recuperación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91072" y="2340863"/>
            <a:ext cx="12344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150" b="1">
                <a:solidFill>
                  <a:srgbClr val="EF852C"/>
                </a:solidFill>
                <a:latin typeface="Aptos"/>
              </a:rPr>
              <a:t>5,5 % base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53712" y="2596896"/>
            <a:ext cx="17373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>
                <a:solidFill>
                  <a:srgbClr val="636E77"/>
                </a:solidFill>
                <a:latin typeface="Aptos"/>
              </a:rPr>
              <a:t>Deserción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91072" y="2596896"/>
            <a:ext cx="12344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150" b="1">
                <a:solidFill>
                  <a:srgbClr val="EF852C"/>
                </a:solidFill>
                <a:latin typeface="Aptos"/>
              </a:rPr>
              <a:t>1,8 % del riesgo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53712" y="2852928"/>
            <a:ext cx="17373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>
                <a:solidFill>
                  <a:srgbClr val="636E77"/>
                </a:solidFill>
                <a:latin typeface="Aptos"/>
              </a:rPr>
              <a:t>Graduación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91072" y="2852928"/>
            <a:ext cx="12344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150" b="1">
                <a:solidFill>
                  <a:srgbClr val="EF852C"/>
                </a:solidFill>
                <a:latin typeface="Aptos"/>
              </a:rPr>
              <a:t>1,0 % base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83879" y="1691640"/>
            <a:ext cx="3474720" cy="1554480"/>
          </a:xfrm>
          <a:prstGeom prst="rect">
            <a:avLst/>
          </a:prstGeom>
          <a:solidFill>
            <a:srgbClr val="DEF6F2"/>
          </a:solidFill>
          <a:ln w="12700">
            <a:solidFill>
              <a:srgbClr val="9A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0" y="1764792"/>
            <a:ext cx="32004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229987"/>
                </a:solidFill>
                <a:latin typeface="Aptos"/>
              </a:rPr>
              <a:t>Horizonte y método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94192" y="2084831"/>
            <a:ext cx="14630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>
                <a:solidFill>
                  <a:srgbClr val="636E77"/>
                </a:solidFill>
                <a:latin typeface="Aptos"/>
              </a:rPr>
              <a:t>Horizonte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93808" y="2084831"/>
            <a:ext cx="14173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150" b="1">
                <a:solidFill>
                  <a:srgbClr val="229987"/>
                </a:solidFill>
                <a:latin typeface="Aptos"/>
              </a:rPr>
              <a:t>60 meses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94192" y="2340863"/>
            <a:ext cx="14630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>
                <a:solidFill>
                  <a:srgbClr val="636E77"/>
                </a:solidFill>
                <a:latin typeface="Aptos"/>
              </a:rPr>
              <a:t>Paso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93808" y="2340863"/>
            <a:ext cx="14173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150" b="1">
                <a:solidFill>
                  <a:srgbClr val="229987"/>
                </a:solidFill>
                <a:latin typeface="Aptos"/>
              </a:rPr>
              <a:t>1 mes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94192" y="2596896"/>
            <a:ext cx="14630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>
                <a:solidFill>
                  <a:srgbClr val="636E77"/>
                </a:solidFill>
                <a:latin typeface="Aptos"/>
              </a:rPr>
              <a:t>Método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93808" y="2596896"/>
            <a:ext cx="14173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150" b="1">
                <a:solidFill>
                  <a:srgbClr val="229987"/>
                </a:solidFill>
                <a:latin typeface="Aptos"/>
              </a:rPr>
              <a:t>Euler discreto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94192" y="2852928"/>
            <a:ext cx="14630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>
                <a:solidFill>
                  <a:srgbClr val="636E77"/>
                </a:solidFill>
                <a:latin typeface="Aptos"/>
              </a:rPr>
              <a:t>Inicio SIPAT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93808" y="2852928"/>
            <a:ext cx="14173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150" b="1">
                <a:solidFill>
                  <a:srgbClr val="229987"/>
                </a:solidFill>
                <a:latin typeface="Aptos"/>
              </a:rPr>
              <a:t>mes 12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3493008"/>
            <a:ext cx="111556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E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3232" y="3639312"/>
            <a:ext cx="19202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1">
                <a:solidFill>
                  <a:srgbClr val="081F32"/>
                </a:solidFill>
                <a:latin typeface="Aptos"/>
              </a:rPr>
              <a:t>Ecuación clave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331720" y="3639312"/>
            <a:ext cx="89611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8486C"/>
                </a:solidFill>
                <a:latin typeface="Aptos"/>
              </a:rPr>
              <a:t>Riesgo(t+1) = Riesgo(t) + Entrada a riesgo − Recuperación − Deserción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4315968"/>
            <a:ext cx="51206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50" b="1">
                <a:solidFill>
                  <a:srgbClr val="081F32"/>
                </a:solidFill>
                <a:latin typeface="Aptos"/>
              </a:rPr>
              <a:t>Qué cambia SIPAT antes de generar los gráficos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4608576"/>
            <a:ext cx="106984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80" b="0">
                <a:solidFill>
                  <a:srgbClr val="636E77"/>
                </a:solidFill>
                <a:latin typeface="Aptos"/>
              </a:rPr>
              <a:t>La política no “mueve” directamente la gráfica; modifica variables del modelo. Esas variables reducen la entrada al riesgo, aumentan recuperación y elevan la cobertura institucional.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" y="5102352"/>
            <a:ext cx="2542032" cy="950976"/>
          </a:xfrm>
          <a:prstGeom prst="rect">
            <a:avLst/>
          </a:prstGeom>
          <a:solidFill>
            <a:srgbClr val="FFE9E9"/>
          </a:solidFill>
          <a:ln w="12700">
            <a:solidFill>
              <a:srgbClr val="BE4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2648" y="5230368"/>
            <a:ext cx="2322576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BE474B"/>
                </a:solidFill>
                <a:latin typeface="Aptos"/>
              </a:rPr>
              <a:t>1. Alerta temprana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7512" y="5522976"/>
            <a:ext cx="2212848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819" b="0">
                <a:solidFill>
                  <a:srgbClr val="081F32"/>
                </a:solidFill>
                <a:latin typeface="Aptos"/>
              </a:rPr>
              <a:t>Detecta inasistencia, bajo rendimiento y retiros parciales.
Reduce entrada tardía al riesgo.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319272" y="5102352"/>
            <a:ext cx="2542032" cy="950976"/>
          </a:xfrm>
          <a:prstGeom prst="rect">
            <a:avLst/>
          </a:prstGeom>
          <a:solidFill>
            <a:srgbClr val="DEF6F2"/>
          </a:solidFill>
          <a:ln w="12700">
            <a:solidFill>
              <a:srgbClr val="2299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429000" y="5230368"/>
            <a:ext cx="2322576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229987"/>
                </a:solidFill>
                <a:latin typeface="Aptos"/>
              </a:rPr>
              <a:t>2. Tutoría focalizada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483864" y="5522976"/>
            <a:ext cx="2212848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819" b="0">
                <a:solidFill>
                  <a:srgbClr val="081F32"/>
                </a:solidFill>
                <a:latin typeface="Aptos"/>
              </a:rPr>
              <a:t>Prioriza estudiantes en riesgo para acompañamiento académico y bienestar.
Aumenta recuperación.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35624" y="5102352"/>
            <a:ext cx="2542032" cy="950976"/>
          </a:xfrm>
          <a:prstGeom prst="rect">
            <a:avLst/>
          </a:prstGeom>
          <a:solidFill>
            <a:srgbClr val="E5F1FA"/>
          </a:solidFill>
          <a:ln w="12700">
            <a:solidFill>
              <a:srgbClr val="1848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45352" y="5230368"/>
            <a:ext cx="2322576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18486C"/>
                </a:solidFill>
                <a:latin typeface="Aptos"/>
              </a:rPr>
              <a:t>3. Más capacidad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00216" y="5522976"/>
            <a:ext cx="2212848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819" b="0">
                <a:solidFill>
                  <a:srgbClr val="081F32"/>
                </a:solidFill>
                <a:latin typeface="Aptos"/>
              </a:rPr>
              <a:t>Más tutores, horas y seguimiento mensual.
Sube capacidad de apoyo y cobertura.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951976" y="5102352"/>
            <a:ext cx="2542032" cy="950976"/>
          </a:xfrm>
          <a:prstGeom prst="rect">
            <a:avLst/>
          </a:prstGeom>
          <a:solidFill>
            <a:srgbClr val="FFF4E3"/>
          </a:solidFill>
          <a:ln w="12700">
            <a:solidFill>
              <a:srgbClr val="EF85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061704" y="5230368"/>
            <a:ext cx="2322576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EF852C"/>
                </a:solidFill>
                <a:latin typeface="Aptos"/>
              </a:rPr>
              <a:t>4. Apoyo integral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16568" y="5522976"/>
            <a:ext cx="2212848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819" b="0">
                <a:solidFill>
                  <a:srgbClr val="081F32"/>
                </a:solidFill>
                <a:latin typeface="Aptos"/>
              </a:rPr>
              <a:t>Apoyo académico, emocional, económico y administrativo.
Mejora motivación y satisfacción.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02920" y="6263640"/>
            <a:ext cx="11155680" cy="411480"/>
          </a:xfrm>
          <a:prstGeom prst="rect">
            <a:avLst/>
          </a:prstGeom>
          <a:solidFill>
            <a:srgbClr val="EDF4FA"/>
          </a:solidFill>
          <a:ln w="12700">
            <a:solidFill>
              <a:srgbClr val="B4C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13232" y="6373368"/>
            <a:ext cx="106984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1">
                <a:solidFill>
                  <a:srgbClr val="081F32"/>
                </a:solidFill>
                <a:latin typeface="Aptos"/>
              </a:rPr>
              <a:t>Lectura para la gráfica: si capacidad de apoyo &lt; estudiantes en riesgo, baja la cobertura; con SIPAT sube la cobertura, sube la recuperación y baja la deserción acumulada.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20040" y="6656832"/>
            <a:ext cx="7772400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570" b="0">
                <a:solidFill>
                  <a:srgbClr val="636E77"/>
                </a:solidFill>
                <a:latin typeface="Aptos"/>
              </a:rPr>
              <a:t>Modelo referencial con datos sintéticos y supuestos plausibles para fines académicos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Universidad Nacional Federico Villarreal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Modelo sistémico SIPAT para reducir la interrupción de estudios</dc:title>
  <dc:subject>Presentación clave - Dinámica de Sistemas</dc:subject>
  <dc:creator>Sebastian Aldair Zamora Montalvo</dc:creator>
  <cp:lastModifiedBy>Sebastian Aldair Zamora Montalvo</cp:lastModifiedBy>
  <cp:revision>1</cp:revision>
  <dcterms:created xsi:type="dcterms:W3CDTF">2026-07-25T15:35:05Z</dcterms:created>
  <dcterms:modified xsi:type="dcterms:W3CDTF">2026-07-25T15:35:05Z</dcterms:modified>
</cp:coreProperties>
</file>